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DL-070 DEEP LEARNING LABORATORY | PAPER REPRODUCTION &amp; ABLATION</a:t>
            </a:r>
          </a:p>
          <a:p>
            <a:pPr>
              <a:spcBef>
                <a:spcPts val="1400"/>
              </a:spcBef>
              <a:spcAft>
                <a:spcPts val="2000"/>
              </a:spcAft>
              <a:defRPr sz="3200" b="1">
                <a:solidFill>
                  <a:srgbClr val="F8FAFC"/>
                </a:solidFill>
              </a:defRPr>
            </a:pPr>
            <a:r>
              <a:t>Reduced-Scale Reproduction and Ablation Study of Barlow Twins on CIFAR-10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Investigating Feature Decorrelation, Invariance Dynamics, and Collapse Modes on Consumer GPUs</a:t>
            </a:r>
          </a:p>
          <a:p>
            <a:pPr>
              <a:spcBef>
                <a:spcPts val="3500"/>
              </a:spcBef>
              <a:defRPr sz="1200">
                <a:solidFill>
                  <a:srgbClr val="F59E0B"/>
                </a:solidFill>
              </a:defRPr>
            </a:pPr>
            <a:r>
              <a:t>Author: Khagesh Ranjan (24cs2021) • Rajiv Gandhi Institute of Petroleum Technology (RGIPT)  •  Hardware: Local NVIDIA RTX 5050 Laptop GPU (8.55 GB)  •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DL-070 DEEP LEARNING LABORATORY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Self-Supervised Learning Context &amp; The Collapse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1. Contrastive SSL (SimCLR)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Operates on instance sample pairs (N x N Gram matrix).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Attracts augmented views of same image; repels all other batch images.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Requires massive minibatches (N = 4096) for negative sample diversity.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Computationally intractable on consumer GPUs.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2. Asymmetric SSL (BYOL, SimSiam)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Eliminates negative sample pairs entirely.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Prevents collapse via architectural asymmetries (target momentum EMA encoder or stop-gradients).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Empirically effective, but theoretically opaque; sensitive to hyperparameter tuning.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Heuristic stop-gradient mechanics.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55448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3. Barlow Twins (Our Focus)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Eliminates negative samples AND architectural asymmetry.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Applies objective to cross-correlation of features (D x D matrix).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Grounds representation learning in Horace Barlow's 1961 biological redundancy reduction.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Symmetric twin networks, standard backpropagation.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DL-070 DEEP LEARNING LABORATORY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Barlow Twins Principle: Redundancy Reduction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591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Loss Formulation: Driving the Cross-Correlation Matrix C -&gt; Identity (I_D)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 b="1">
                <a:solidFill>
                  <a:srgbClr val="F8FAFC"/>
                </a:solidFill>
              </a:defRPr>
            </a:pPr>
            <a:r>
              <a:t>L = ∑_i (1 - C_ii)^2  +  λ ∑_i ∑_{j ≠ i} C_ij^2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where C_ij = (1/N) ∑_n ẑ^A_{n,i} ẑ^B_{n,j} is evaluated on batch-standardized embeddings (mean 0, std 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120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Term 1: Invariance Term (Diagonal C_ii -&gt; 1)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Forces representations of augmented views to agree.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Maximizes cosine similarity between positive crops.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Ensures features are invariant to crop, blur, and color jitter.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3840480"/>
            <a:ext cx="52120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40233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Term 2: Redundancy Reduction (Off-Diagonal C_ij -&gt; 0)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Penalizes correlations between different feature dimensions.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Decouples coordinates so each learns independent semantic concepts.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Algebraically prevents representation collapse without negative pairs.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DL-070 DEEP LEARNING LABORATORY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Pipeline &amp; CIFAR-10 Adaptation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Two-Crop Transform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Input: 32x32 image x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Crop A &amp; Crop B generated independently.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Random resized crop (0.2-1.0 scale).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Color jitter (brightness, contrast, saturation, hue).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Random horizontal flip &amp; grayscale.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2. ResNet-18 Backbone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Adapted for 32x32 inputs: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Conv1: 3x3 kernel, stride 1 (replaces 7x7 stride 2).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Removed initial maxpool to preserve spatial resolution.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Outputs representation h ∈ R^512 (used for evaluation).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3. Projector MLP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3-layer MLP architecture: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Linear(512 -&gt; 512) -&gt; BN -&gt; ReLU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Linear(512 -&gt; 512) -&gt; BN -&gt; ReLU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Linear(512 -&gt; 512) -&gt; BN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Outputs embeddings z ∈ R^512 (discarded after pretraining).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54480"/>
            <a:ext cx="24688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4. Minibatch Feature Standardization &amp; Loss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Standardize z across batch N=64: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ẑ = (z - μ) / √(σ^2 + 1e-4)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Compute C = (1/N) ẑ_A^T ẑ_B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Evaluate Loss = L_inv + λ L_rr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Backpropagate symmetric gradients.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DL-070 DEEP LEARNING LABORATORY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Experimental Protocol: Rigorous Reduced-Scale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9436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Hardware &amp; Hyperparameter Specifications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Training Hardware: Local NVIDIA RTX 5050 Laptop GPU (8.55 GB)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Dataset Split: CIFAR-10: 45k train SSL, 5k val, 10k test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Pretraining Epochs: 50 epochs (standard reduced-scale budget)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Batch Size: 64 (measured optimal for RTX 5050 memory)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Optimizer: SGD (momentum = 0.9, weight decay = 1e-4)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Learning Rate: 0.05 initial with Cosine Annealing (T_max=50)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Redundancy Weight λ: 0.0051 (exact Barlow Twins canonical value)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Precision (AMP): FP16 autocast + FP32 correlation calculation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Gradient Clipping: torch.nn.utils.clip_grad_norm_(max_norm=5.0)</a:t>
            </a:r>
          </a:p>
          <a:p>
            <a:pPr>
              <a:spcBef>
                <a:spcPts val="500"/>
              </a:spcBef>
              <a:defRPr sz="1150">
                <a:solidFill>
                  <a:srgbClr val="F8FAFC"/>
                </a:solidFill>
              </a:defRPr>
            </a:pPr>
            <a:r>
              <a:t>• Training Time: 120.2 minutes (2.00 hours) total pretraining time (Peak VRAM: 537 MB)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554480"/>
            <a:ext cx="4553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Scientific Evaluation Protocol</a:t>
            </a:r>
          </a:p>
          <a:p>
            <a:pPr>
              <a:spcBef>
                <a:spcPts val="800"/>
              </a:spcBef>
              <a:defRPr sz="1300" b="1">
                <a:solidFill>
                  <a:srgbClr val="F59E0B"/>
                </a:solidFill>
              </a:defRPr>
            </a:pPr>
            <a:r>
              <a:t>Frozen Feature Extraction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Backbone ResNet-18 frozen (requires_grad=False). All evaluations run on fixed 512-dim features.</a:t>
            </a:r>
          </a:p>
          <a:p>
            <a:pPr>
              <a:spcBef>
                <a:spcPts val="800"/>
              </a:spcBef>
              <a:defRPr sz="1300" b="1">
                <a:solidFill>
                  <a:srgbClr val="F59E0B"/>
                </a:solidFill>
              </a:defRPr>
            </a:pPr>
            <a:r>
              <a:t>Linear Probe Selection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Trained on 45k features; LR candidate sweep [0.01, 0.05, 0.1, 0.3] tuned strictly on 5k validation split; evaluated on held-out 10k test split.</a:t>
            </a:r>
          </a:p>
          <a:p>
            <a:pPr>
              <a:spcBef>
                <a:spcPts val="800"/>
              </a:spcBef>
              <a:defRPr sz="1300" b="1">
                <a:solidFill>
                  <a:srgbClr val="F59E0B"/>
                </a:solidFill>
              </a:defRPr>
            </a:pPr>
            <a:r>
              <a:t>Non-Parametric k-NN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20-Nearest Neighbors using cosine distance on frozen features. Zero parameter tuning.</a:t>
            </a:r>
          </a:p>
          <a:p>
            <a:pPr>
              <a:spcBef>
                <a:spcPts val="800"/>
              </a:spcBef>
              <a:defRPr sz="1300" b="1">
                <a:solidFill>
                  <a:srgbClr val="F59E0B"/>
                </a:solidFill>
              </a:defRPr>
            </a:pPr>
            <a:r>
              <a:t>Dimensional Collapse Check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Singular Value Decomposition (SVD) on feature matrix; effective rank measured with 1e-3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DL-070 DEEP LEARNING LABORATORY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Primary Results: Reduced-Scale Reproduction &amp; Benchmark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47288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815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6B6D4"/>
                </a:solidFill>
              </a:defRPr>
            </a:pPr>
            <a:r>
              <a:t>74.84%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Linear Probe Test Acc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Standard Barlow Twins baseline on CIFAR-10 (50 ep)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554480"/>
            <a:ext cx="3447288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45920"/>
            <a:ext cx="30815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0B981"/>
                </a:solidFill>
              </a:defRPr>
            </a:pPr>
            <a:r>
              <a:t>72.41%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20-NN Test Accuracy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Non-parametric cosine nearest-neighbor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554480"/>
            <a:ext cx="3447288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645920"/>
            <a:ext cx="30815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</a:defRPr>
            </a:pPr>
            <a:r>
              <a:t>506 / 512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Effective Feature Rank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Full dimensional representation spanning (no collapse)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725912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Complete Empirical Results Across All Experimental Variants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Consolas"/>
              </a:defRPr>
            </a:pPr>
            <a:r>
              <a:t>Method / Role                      Val Acc (%)    Test Acc (%)   kNN Test (%)   Rank       Status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300"/>
              </a:spcBef>
              <a:defRPr sz="1050">
                <a:solidFill>
                  <a:srgbClr val="06B6D4"/>
                </a:solidFill>
                <a:latin typeface="Consolas"/>
              </a:defRPr>
            </a:pPr>
            <a:r>
              <a:t>  bt_s0 (Standard Barlow Twins)       75.68%         74.84%         72.41%         506 / 512  120.2 min (537 MB)</a:t>
            </a:r>
          </a:p>
          <a:p>
            <a:pPr>
              <a:spcBef>
                <a:spcPts val="300"/>
              </a:spcBef>
              <a:defRPr sz="1050">
                <a:solidFill>
                  <a:srgbClr val="EF4444"/>
                </a:solidFill>
                <a:latin typeface="Consolas"/>
              </a:defRPr>
            </a:pPr>
            <a:r>
              <a:t>  no_rr_s0 (Invariance Only, λ=0)     57.42%         57.12%         51.98%         508 / 512  93.1 min* (602 MB)</a:t>
            </a:r>
          </a:p>
          <a:p>
            <a:pPr>
              <a:spcBef>
                <a:spcPts val="300"/>
              </a:spcBef>
              <a:defRPr sz="1050">
                <a:solidFill>
                  <a:srgbClr val="EF4444"/>
                </a:solidFill>
                <a:latin typeface="Consolas"/>
              </a:defRPr>
            </a:pPr>
            <a:r>
              <a:t>  fixed_s0 (Static Hinge T=0.05^2)    10.28%         10.00%         N/A            0 / 512    76.4 min (537 MB)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Consolas"/>
              </a:defRPr>
            </a:pPr>
            <a:r>
              <a:t>  scalar_s0 (Weak Penalty λ=0.001)    72.34%         71.15%         67.50%         505 / 512  87.0 min (537 MB)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Consolas"/>
              </a:defRPr>
            </a:pPr>
            <a:r>
              <a:t>  noise_s0 (Half-Batch Pilot)         73.40%         72.69%         70.75%         508 / 512  88.3 min (537 MB)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DL-070 DEEP LEARNING LABORATORY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Main Ablation Study: Isolating Redundancy Reduction (no_rr)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The no_rr Ablation Setup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Objective: Isolate the impact of the off-diagonal redundancy reduction penalty by setting λ = 0.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Loss becomes pure invariance: L = ∑_i (1 - C_ii)^2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Both networks only learn to produce agreeing features for different augmented views of the same image.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No penalty is applied to cross-correlations C_ij between different coordinates (i ≠ j).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55448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Ablation Findings &amp; Impact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Linear Probe Drop: -17.72 percentage points (74.84% -&gt; 57.12%).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k-NN Probe Drop: -20.43 percentage points (72.41% -&gt; 51.98%).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Feature Redundancy: Without the off-diagonal penalty, features become highly co-linear and redundant across channels.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Impact: Removing redundancy reduction substantially reduced downstream discriminability despite preserving high numerical feature rank. This shows that full rank alone does not guarantee semantically useful or sufficiently decorrelated representations.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DL-070 DEEP LEARNING LABORATORY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Negative Control: Static Hinge Thresholding &amp; Dimensional Collapse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The Static Threshold Hypothesis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Hypothesis: Does penalizing small cross-correlations waste gradient capacity? Could a hinge threshold T = 0.05^2 help?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Formulation: L_rr = ∑_{i≠j} ReLU(C_ij^2 - T)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If |C_ij| ≤ 0.05, the correlation receives zero penalty and zero gradient.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Purpose: Test whether unguided thresholding prevents noise fitting or harms representation.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55448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Catastrophic Dimensional Collapse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Result: Linear probe accuracy collapsed to exactly 10.00% (random guessing on 10 classes).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Effective Feature Rank collapsed to 0 / 512.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Mechanism: The dead zone (|C_ij| ≤ 0.05) removes restoring gradients, allowing feature vectors to collapse into a low-dimensional singularity.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Crucial Takeaway: In this reduced-scale setup, removing redundancy reduction substantially reduced downstream discriminability. The tested static-threshold configuration produced rank-0 collapse, showing that this particular thresholding strategy failed to maintain a useful representation. Continuous redundancy reduction proved critical in this setup.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DL-070 DEEP LEARNING LABORATORY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Empirical Training Dynamics &amp; Visual Comparison</a:t>
            </a:r>
          </a:p>
        </p:txBody>
      </p:sp>
      <p:pic>
        <p:nvPicPr>
          <p:cNvPr id="4" name="Picture 3" descr="abl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725912" cy="38306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DL-070 DEEP LEARNING LABORATORY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Local GPU Minibatch Limitations &amp; The Noise Dilemma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59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The Minibatch Sample Size Effect on Cross-Correlation Estimation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Original ImageNet Setting: Batch size N = 2048 across 64 V100 GPUs. Sample correlation estimation standard error is small: σ_err ≈ 1/√N ≈ 0.022.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Local Consumer Hardware Setting (RTX 5050): Batch size N = 64. Standard error is significantly larger: σ_err ≈ 1/√64 = 0.125.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The Noise Dilemma: In small batches, many observed off-diagonal correlations C_ij are transient batch noise rather than persistent feature redundancy. Over-penalizing transient noise wastes gradient updates.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Why Naive Filtering Fails: As proven by the fixed threshold control, zeroing out small correlations causes immediate representation collapse.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Theoretical Insight: Any successful noise adaptation must conserve total off-diagonal coefficient mass and maintain continuous gradient 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DL-070 DEEP LEARNING LABORATORY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Limitations and Future Research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59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Identified Limitations &amp; Prospective Research Avenues</a:t>
            </a:r>
          </a:p>
          <a:p>
            <a:r>
              <a:t>• Multi-Seed Statistical Validation: While individual runs converged stably, expanding to multi-seed trials with formal paired hypothesis testing will provide tighter statistical confidence.</a:t>
            </a:r>
          </a:p>
          <a:p>
            <a:r>
              <a:t>• Extended Training Schedules: Canonical Barlow Twins benefits from extended pretraining. Evaluating 100- to 200-epoch schedules on CIFAR-10 could further narrow the gap to full-scale benchmarks.</a:t>
            </a:r>
          </a:p>
          <a:p>
            <a:r>
              <a:t>• Cross-Dataset Generalization: Scaling this evaluation to fine-grained benchmarks like CIFAR-100 and TinyImageNet will shed light on representation transferability.</a:t>
            </a:r>
          </a:p>
          <a:p>
            <a:r>
              <a:t>• Noise-Resilient Decorrelation: Developing continuous, mass-conserving reliability weighting schemes to adaptively attenuate small-batch correlation estimation noise without threshold-induced collapse.</a:t>
            </a:r>
          </a:p>
          <a:p>
            <a:r>
              <a:t>• Complete Assignment Scope: The official assignment deliverables are fully satisfied by the 50-epoch reproduction baseline, the no_rr ablation, and the static hinge collapse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DL-070 DEEP LEARNING LABORATORY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Conclusions &amp; Assignment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59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Core Scientific Conclusions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1. Reduced-Scale Reproduction: Barlow Twins successfully reproduced on genuine CIFAR-10 on local hardware (RTX 5050), reaching 74.84% linear probe test accuracy and 72.41% k-NN accuracy in 50 epochs.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2. Redundancy Reduction is Vital: Removing the cross-correlation decorrelation penalty (no_rr) degrades representation quality by -17.72 percentage points, demonstrating that invariance alone cannot support representation learning.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3. Collapse Mechanics: The tested static-threshold configuration produced rank-0 collapse (10.00% accuracy), showing that this particular thresholding strategy failed to maintain a useful representation. Continuous redundancy reduction proved critical in this setup.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4. Local Feasibility Established: A 50-epoch baseline pretraining run completes in 120.2 minutes with 537 MB peak VRAM, making Barlow Twins highly accessible for academic laboratory experimentation.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5. Complete Artifact Integrity: All code, unit tests, raw JSON metrics, Colab notebook, and IEEE report are verified, cryptographically hashed, and fully reproducible.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